
<file path=[Content_Types].xml><?xml version="1.0" encoding="utf-8"?>
<Types xmlns="http://schemas.openxmlformats.org/package/2006/content-types">
  <Default Extension="jpeg" ContentType="image/jpeg"/>
  <Default Extension="mp4" ContentType="vide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E1BF0B-E3B9-4A0B-A44D-CAD7F751F78B}" v="197" dt="2026-05-31T12:57:59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9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2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3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8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2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6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7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4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0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0" r:id="rId6"/>
    <p:sldLayoutId id="2147483705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800">
                <a:solidFill>
                  <a:schemeClr val="tx2"/>
                </a:solidFill>
                <a:latin typeface="Consolas"/>
              </a:rPr>
              <a:t>ChemAI: Predict the Cure</a:t>
            </a:r>
            <a:br>
              <a:rPr lang="ru-RU" sz="4800">
                <a:solidFill>
                  <a:schemeClr val="tx2"/>
                </a:solidFill>
                <a:latin typeface="Consolas"/>
              </a:rPr>
            </a:br>
            <a:endParaRPr lang="ru-RU" sz="4800">
              <a:solidFill>
                <a:schemeClr val="tx2"/>
              </a:solidFill>
              <a:latin typeface="Consolas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700">
                <a:latin typeface="Consolas"/>
              </a:rPr>
              <a:t>Авторы: Команда 46 </a:t>
            </a:r>
          </a:p>
          <a:p>
            <a:pPr>
              <a:lnSpc>
                <a:spcPct val="100000"/>
              </a:lnSpc>
            </a:pPr>
            <a:r>
              <a:rPr lang="ru-RU" sz="1700">
                <a:latin typeface="Consolas"/>
              </a:rPr>
              <a:t>(участник - Пахмутов Дмитрий)</a:t>
            </a:r>
          </a:p>
          <a:p>
            <a:pPr>
              <a:lnSpc>
                <a:spcPct val="100000"/>
              </a:lnSpc>
            </a:pPr>
            <a:r>
              <a:rPr lang="ru-RU" sz="1700">
                <a:latin typeface="Consolas"/>
              </a:rPr>
              <a:t>
Хакатон: ChemAI</a:t>
            </a:r>
            <a:endParaRPr lang="ru-RU" sz="1700"/>
          </a:p>
        </p:txBody>
      </p:sp>
      <p:pic>
        <p:nvPicPr>
          <p:cNvPr id="4" name="Picture 3" descr="Химическая обработанных составных запросов">
            <a:extLst>
              <a:ext uri="{FF2B5EF4-FFF2-40B4-BE49-F238E27FC236}">
                <a16:creationId xmlns:a16="http://schemas.microsoft.com/office/drawing/2014/main" id="{823B748C-1B87-F3CB-AFD7-DD94D195C2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4362996" y="1322172"/>
            <a:ext cx="7311136" cy="4112512"/>
          </a:xfrm>
          <a:prstGeom prst="rect">
            <a:avLst/>
          </a:prstGeom>
        </p:spPr>
      </p:pic>
      <p:sp>
        <p:nvSpPr>
          <p:cNvPr id="23" name="Freeform: Shape 19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C4E1D-BB16-FF9D-B043-D52D3010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ru-RU">
                <a:highlight>
                  <a:srgbClr val="FFFFFF"/>
                </a:highlight>
              </a:rPr>
              <a:t>Постановка задачи</a:t>
            </a:r>
            <a:endParaRPr lang="ru-RU"/>
          </a:p>
          <a:p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8A2528-5B23-7E10-36A3-C3DD20FE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500" b="1">
                <a:highlight>
                  <a:srgbClr val="FFFFFF"/>
                </a:highlight>
                <a:ea typeface="+mn-lt"/>
                <a:cs typeface="+mn-lt"/>
              </a:rPr>
              <a:t>Цель проекта: Разработать модель машинного обучения для предсказания трёх ключевых показателей химических соединений</a:t>
            </a:r>
          </a:p>
          <a:p>
            <a:pPr>
              <a:lnSpc>
                <a:spcPct val="100000"/>
              </a:lnSpc>
            </a:pPr>
            <a:endParaRPr lang="ru-RU" sz="1500" b="1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endParaRPr lang="ru-RU" sz="1500" b="1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endParaRPr lang="ru-RU" sz="1500" b="1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endParaRPr lang="ru-RU" sz="1500" b="1">
              <a:highlight>
                <a:srgbClr val="FFFFFF"/>
              </a:highlight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ru-RU" sz="1500" b="1">
                <a:highlight>
                  <a:srgbClr val="FFFFFF"/>
                </a:highlight>
                <a:ea typeface="+mn-lt"/>
                <a:cs typeface="+mn-lt"/>
              </a:rPr>
              <a:t>Практическая значимость:</a:t>
            </a:r>
            <a:endParaRPr lang="ru-RU" sz="1500" b="1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r>
              <a:rPr lang="ru-RU" sz="1500">
                <a:highlight>
                  <a:srgbClr val="FFFFFF"/>
                </a:highlight>
                <a:ea typeface="+mn-lt"/>
                <a:cs typeface="+mn-lt"/>
              </a:rPr>
              <a:t>Ускорение разработки лекарственных препаратов</a:t>
            </a:r>
            <a:endParaRPr lang="ru-RU" sz="1500"/>
          </a:p>
          <a:p>
            <a:pPr>
              <a:lnSpc>
                <a:spcPct val="100000"/>
              </a:lnSpc>
            </a:pPr>
            <a:r>
              <a:rPr lang="ru-RU" sz="1500">
                <a:highlight>
                  <a:srgbClr val="FFFFFF"/>
                </a:highlight>
                <a:ea typeface="+mn-lt"/>
                <a:cs typeface="+mn-lt"/>
              </a:rPr>
              <a:t>Сокращение затрат на лабораторные эксперименты</a:t>
            </a:r>
            <a:endParaRPr lang="ru-RU" sz="1500"/>
          </a:p>
          <a:p>
            <a:pPr>
              <a:lnSpc>
                <a:spcPct val="100000"/>
              </a:lnSpc>
            </a:pPr>
            <a:r>
              <a:rPr lang="ru-RU" sz="1500">
                <a:highlight>
                  <a:srgbClr val="FFFFFF"/>
                </a:highlight>
                <a:ea typeface="+mn-lt"/>
                <a:cs typeface="+mn-lt"/>
              </a:rPr>
              <a:t>Скрининг потенциально эффективных соединений</a:t>
            </a:r>
            <a:endParaRPr lang="ru-RU" sz="1500"/>
          </a:p>
          <a:p>
            <a:pPr>
              <a:lnSpc>
                <a:spcPct val="100000"/>
              </a:lnSpc>
            </a:pPr>
            <a:endParaRPr lang="ru-RU" sz="1500" b="1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endParaRPr lang="ru-RU" sz="1500" b="1">
              <a:highlight>
                <a:srgbClr val="FFFFFF"/>
              </a:highlight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42159A6-5E5F-E48B-55FD-6B17BE7BCA87}"/>
              </a:ext>
            </a:extLst>
          </p:cNvPr>
          <p:cNvGraphicFramePr>
            <a:graphicFrameLocks noGrp="1"/>
          </p:cNvGraphicFramePr>
          <p:nvPr/>
        </p:nvGraphicFramePr>
        <p:xfrm>
          <a:off x="7317668" y="1631072"/>
          <a:ext cx="4356462" cy="3597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206">
                  <a:extLst>
                    <a:ext uri="{9D8B030D-6E8A-4147-A177-3AD203B41FA5}">
                      <a16:colId xmlns:a16="http://schemas.microsoft.com/office/drawing/2014/main" val="1983704063"/>
                    </a:ext>
                  </a:extLst>
                </a:gridCol>
                <a:gridCol w="2867256">
                  <a:extLst>
                    <a:ext uri="{9D8B030D-6E8A-4147-A177-3AD203B41FA5}">
                      <a16:colId xmlns:a16="http://schemas.microsoft.com/office/drawing/2014/main" val="1483338960"/>
                    </a:ext>
                  </a:extLst>
                </a:gridCol>
              </a:tblGrid>
              <a:tr h="63959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Показатель</a:t>
                      </a:r>
                    </a:p>
                  </a:txBody>
                  <a:tcPr marL="131199" marR="218666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Описание</a:t>
                      </a:r>
                    </a:p>
                  </a:txBody>
                  <a:tcPr marL="218666" marR="218666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48920"/>
                  </a:ext>
                </a:extLst>
              </a:tr>
              <a:tr h="98581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IC50</a:t>
                      </a:r>
                      <a:endParaRPr lang="ru-RU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31199" marR="218666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Концентрация подавления 50% активности вируса</a:t>
                      </a:r>
                    </a:p>
                  </a:txBody>
                  <a:tcPr marL="218666" marR="131199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562595"/>
                  </a:ext>
                </a:extLst>
              </a:tr>
              <a:tr h="98581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CC50</a:t>
                      </a:r>
                      <a:endParaRPr lang="ru-RU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31199" marR="218666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Концентрация токсичности для 50% клеток</a:t>
                      </a:r>
                    </a:p>
                  </a:txBody>
                  <a:tcPr marL="218666" marR="131199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301961"/>
                  </a:ext>
                </a:extLst>
              </a:tr>
              <a:tr h="98581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SI</a:t>
                      </a:r>
                      <a:endParaRPr lang="ru-RU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31199" marR="218666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Индекс селективности (CC50 / IC50)</a:t>
                      </a:r>
                    </a:p>
                  </a:txBody>
                  <a:tcPr marL="218666" marR="131199" marT="136666" marB="1366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82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69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97843-2526-27B4-BA78-94347473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Характеристика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данных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9642C-944F-63CB-42C0-BE10FDC5FDAE}"/>
              </a:ext>
            </a:extLst>
          </p:cNvPr>
          <p:cNvSpPr txBox="1"/>
          <p:nvPr/>
        </p:nvSpPr>
        <p:spPr>
          <a:xfrm>
            <a:off x="521208" y="2578608"/>
            <a:ext cx="6281928" cy="37673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/>
              <a:t>Типы </a:t>
            </a:r>
            <a:r>
              <a:rPr lang="en-US" b="1" i="0"/>
              <a:t>признаков</a:t>
            </a:r>
            <a:r>
              <a:rPr lang="en-US" b="1" i="0" dirty="0"/>
              <a:t>: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/>
              <a:t>Числовые </a:t>
            </a:r>
            <a:r>
              <a:rPr lang="en-US" b="0" i="0"/>
              <a:t>дескрипторы</a:t>
            </a:r>
            <a:r>
              <a:rPr lang="en-US" b="0" i="0" dirty="0"/>
              <a:t> (</a:t>
            </a:r>
            <a:r>
              <a:rPr lang="en-US" b="0" i="0"/>
              <a:t>молекулярные</a:t>
            </a:r>
            <a:r>
              <a:rPr lang="en-US" b="0" i="0" dirty="0"/>
              <a:t> </a:t>
            </a:r>
            <a:r>
              <a:rPr lang="en-US" b="0" i="0"/>
              <a:t>свойства</a:t>
            </a:r>
            <a:r>
              <a:rPr lang="en-US" b="0" i="0" dirty="0"/>
              <a:t>)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/>
              <a:t>Бинарные </a:t>
            </a:r>
            <a:r>
              <a:rPr lang="en-US" b="0" i="0"/>
              <a:t>функциональные</a:t>
            </a:r>
            <a:r>
              <a:rPr lang="en-US" b="0" i="0" dirty="0"/>
              <a:t> </a:t>
            </a:r>
            <a:r>
              <a:rPr lang="en-US" b="0" i="0"/>
              <a:t>группы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A495439-3D3E-5D35-F4F5-4D89CA91DF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17668" y="1509397"/>
          <a:ext cx="4356462" cy="384040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66739">
                  <a:extLst>
                    <a:ext uri="{9D8B030D-6E8A-4147-A177-3AD203B41FA5}">
                      <a16:colId xmlns:a16="http://schemas.microsoft.com/office/drawing/2014/main" val="674762454"/>
                    </a:ext>
                  </a:extLst>
                </a:gridCol>
                <a:gridCol w="2489723">
                  <a:extLst>
                    <a:ext uri="{9D8B030D-6E8A-4147-A177-3AD203B41FA5}">
                      <a16:colId xmlns:a16="http://schemas.microsoft.com/office/drawing/2014/main" val="4073430422"/>
                    </a:ext>
                  </a:extLst>
                </a:gridCol>
              </a:tblGrid>
              <a:tr h="52937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1" i="0" cap="all" spc="6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Параметр</a:t>
                      </a:r>
                    </a:p>
                  </a:txBody>
                  <a:tcPr marL="116181" marR="193636" marT="116181" marB="11618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1" i="0" cap="all" spc="6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93636" marR="193636" marT="116181" marB="11618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01809"/>
                  </a:ext>
                </a:extLst>
              </a:tr>
              <a:tr h="82775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Обучающая выборка</a:t>
                      </a:r>
                    </a:p>
                  </a:txBody>
                  <a:tcPr marL="116181" marR="193636" marT="121022" marB="11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751 объект</a:t>
                      </a:r>
                    </a:p>
                  </a:txBody>
                  <a:tcPr marL="193636" marR="116181" marT="121022" marB="11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60152"/>
                  </a:ext>
                </a:extLst>
              </a:tr>
              <a:tr h="82775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Тестовая выборка</a:t>
                      </a:r>
                    </a:p>
                  </a:txBody>
                  <a:tcPr marL="116181" marR="193636" marT="121022" marB="11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250 объектов</a:t>
                      </a:r>
                    </a:p>
                  </a:txBody>
                  <a:tcPr marL="193636" marR="116181" marT="121022" marB="11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98385"/>
                  </a:ext>
                </a:extLst>
              </a:tr>
              <a:tr h="82775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Признаки</a:t>
                      </a:r>
                    </a:p>
                  </a:txBody>
                  <a:tcPr marL="116181" marR="193636" marT="121022" marB="11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214 (179 числовых + 31 бинарный)</a:t>
                      </a:r>
                    </a:p>
                  </a:txBody>
                  <a:tcPr marL="193636" marR="116181" marT="121022" marB="11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641995"/>
                  </a:ext>
                </a:extLst>
              </a:tr>
              <a:tr h="82775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Целевые переменные</a:t>
                      </a:r>
                    </a:p>
                  </a:txBody>
                  <a:tcPr marL="116181" marR="193636" marT="121022" marB="11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IC50, CC50, SI</a:t>
                      </a:r>
                    </a:p>
                  </a:txBody>
                  <a:tcPr marL="193636" marR="116181" marT="121022" marB="1161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3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070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4FCC-6A41-69A2-F814-2E9B3FA5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>
                <a:highlight>
                  <a:srgbClr val="FFFFFF"/>
                </a:highlight>
              </a:rPr>
              <a:t>Анализ целевых переменных</a:t>
            </a:r>
            <a:endParaRPr lang="ru-RU"/>
          </a:p>
          <a:p>
            <a:pPr>
              <a:lnSpc>
                <a:spcPct val="90000"/>
              </a:lnSpc>
            </a:pPr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5957F-70DA-9527-0DE2-C7AC48C8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Проблемы: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Сильная скошенность распределений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Наличие выбросов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Разные масштабы</a:t>
            </a:r>
            <a:endParaRPr lang="ru-RU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Решение:</a:t>
            </a: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 Логарифмическое преобразование (log1p)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65B76A8-D9A6-1B22-34D1-50C0F1C02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462078"/>
              </p:ext>
            </p:extLst>
          </p:nvPr>
        </p:nvGraphicFramePr>
        <p:xfrm>
          <a:off x="517867" y="2800066"/>
          <a:ext cx="6281928" cy="317556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33808">
                  <a:extLst>
                    <a:ext uri="{9D8B030D-6E8A-4147-A177-3AD203B41FA5}">
                      <a16:colId xmlns:a16="http://schemas.microsoft.com/office/drawing/2014/main" val="1531118247"/>
                    </a:ext>
                  </a:extLst>
                </a:gridCol>
                <a:gridCol w="1331672">
                  <a:extLst>
                    <a:ext uri="{9D8B030D-6E8A-4147-A177-3AD203B41FA5}">
                      <a16:colId xmlns:a16="http://schemas.microsoft.com/office/drawing/2014/main" val="3640842836"/>
                    </a:ext>
                  </a:extLst>
                </a:gridCol>
                <a:gridCol w="1297743">
                  <a:extLst>
                    <a:ext uri="{9D8B030D-6E8A-4147-A177-3AD203B41FA5}">
                      <a16:colId xmlns:a16="http://schemas.microsoft.com/office/drawing/2014/main" val="76252282"/>
                    </a:ext>
                  </a:extLst>
                </a:gridCol>
                <a:gridCol w="1418705">
                  <a:extLst>
                    <a:ext uri="{9D8B030D-6E8A-4147-A177-3AD203B41FA5}">
                      <a16:colId xmlns:a16="http://schemas.microsoft.com/office/drawing/2014/main" val="3331146189"/>
                    </a:ext>
                  </a:extLst>
                </a:gridCol>
              </a:tblGrid>
              <a:tr h="79389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1" i="0">
                          <a:solidFill>
                            <a:srgbClr val="FFFFFF"/>
                          </a:solidFill>
                          <a:effectLst/>
                          <a:latin typeface="quote-cjk-patch"/>
                        </a:rPr>
                        <a:t>Показатель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1" i="0">
                          <a:solidFill>
                            <a:srgbClr val="FFFFFF"/>
                          </a:solidFill>
                          <a:effectLst/>
                          <a:latin typeface="quote-cjk-patch"/>
                        </a:rPr>
                        <a:t>IC50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1" i="0">
                          <a:solidFill>
                            <a:srgbClr val="FFFFFF"/>
                          </a:solidFill>
                          <a:effectLst/>
                          <a:latin typeface="quote-cjk-patch"/>
                        </a:rPr>
                        <a:t>CC50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1" i="0">
                          <a:solidFill>
                            <a:srgbClr val="FFFFFF"/>
                          </a:solidFill>
                          <a:effectLst/>
                          <a:latin typeface="quote-cjk-patch"/>
                        </a:rPr>
                        <a:t>SI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245953"/>
                  </a:ext>
                </a:extLst>
              </a:tr>
              <a:tr h="79389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Skewness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3.79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2.06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15.64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164008"/>
                  </a:ext>
                </a:extLst>
              </a:tr>
              <a:tr h="79389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Kurtosis</a:t>
                      </a:r>
                    </a:p>
                  </a:txBody>
                  <a:tcPr marL="328658" marR="197195" marT="197195" marB="19719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24.4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6.1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271.6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3043"/>
                  </a:ext>
                </a:extLst>
              </a:tr>
              <a:tr h="79389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Выбросы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14.2%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4.3%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3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quote-cjk-patch"/>
                        </a:rPr>
                        <a:t>12.1%</a:t>
                      </a:r>
                    </a:p>
                  </a:txBody>
                  <a:tcPr marL="328658" marR="197195" marT="197195" marB="1971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056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51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577E0-0BFB-6BA9-C9C4-FACC3BA1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Анализ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признаков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F8AF9-B206-28B0-3E07-E1C9F5A3E204}"/>
              </a:ext>
            </a:extLst>
          </p:cNvPr>
          <p:cNvSpPr txBox="1"/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/>
              <a:t>Скошенность </a:t>
            </a:r>
            <a:r>
              <a:rPr lang="en-US" b="1" i="0"/>
              <a:t>признаков</a:t>
            </a:r>
            <a:r>
              <a:rPr lang="en-US" b="1" i="0" dirty="0"/>
              <a:t>: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/>
              <a:t>Сильная</a:t>
            </a:r>
            <a:r>
              <a:rPr lang="en-US" dirty="0"/>
              <a:t>:</a:t>
            </a:r>
            <a:r>
              <a:rPr lang="en-US" b="0" i="0" dirty="0"/>
              <a:t> 118 </a:t>
            </a:r>
            <a:r>
              <a:rPr lang="en-US" b="0" i="0"/>
              <a:t>признаков</a:t>
            </a:r>
            <a:r>
              <a:rPr lang="en-US" b="0" i="0" dirty="0"/>
              <a:t> → </a:t>
            </a:r>
            <a:r>
              <a:rPr lang="en-US" b="0" i="0"/>
              <a:t>требуется</a:t>
            </a:r>
            <a:r>
              <a:rPr lang="en-US" b="0" i="0" dirty="0"/>
              <a:t> </a:t>
            </a:r>
            <a:r>
              <a:rPr lang="en-US" b="0" i="0"/>
              <a:t>преобразование</a:t>
            </a:r>
            <a:endParaRPr lang="en-US" b="0" i="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/>
              <a:t>Умеренная</a:t>
            </a:r>
            <a:r>
              <a:rPr lang="en-US" b="0" i="0" dirty="0"/>
              <a:t>: 32 </a:t>
            </a:r>
            <a:r>
              <a:rPr lang="en-US" b="0" i="0"/>
              <a:t>признака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/>
              <a:t>Нормальная</a:t>
            </a:r>
            <a:r>
              <a:rPr lang="en-US" b="0" i="0" dirty="0"/>
              <a:t>: 29 </a:t>
            </a:r>
            <a:r>
              <a:rPr lang="en-US" b="0" i="0"/>
              <a:t>признаков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BB3183E-FE22-CA6B-0B9C-525F8101A3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7867" y="3180544"/>
          <a:ext cx="6281929" cy="241460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780720">
                  <a:extLst>
                    <a:ext uri="{9D8B030D-6E8A-4147-A177-3AD203B41FA5}">
                      <a16:colId xmlns:a16="http://schemas.microsoft.com/office/drawing/2014/main" val="2164424858"/>
                    </a:ext>
                  </a:extLst>
                </a:gridCol>
                <a:gridCol w="1945744">
                  <a:extLst>
                    <a:ext uri="{9D8B030D-6E8A-4147-A177-3AD203B41FA5}">
                      <a16:colId xmlns:a16="http://schemas.microsoft.com/office/drawing/2014/main" val="870172512"/>
                    </a:ext>
                  </a:extLst>
                </a:gridCol>
                <a:gridCol w="2555465">
                  <a:extLst>
                    <a:ext uri="{9D8B030D-6E8A-4147-A177-3AD203B41FA5}">
                      <a16:colId xmlns:a16="http://schemas.microsoft.com/office/drawing/2014/main" val="3744264067"/>
                    </a:ext>
                  </a:extLst>
                </a:gridCol>
              </a:tblGrid>
              <a:tr h="6190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91198" marR="24512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Количество</a:t>
                      </a:r>
                    </a:p>
                  </a:txBody>
                  <a:tcPr marL="191198" marR="245125" marT="147075" marB="14707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Характеристика</a:t>
                      </a:r>
                    </a:p>
                  </a:txBody>
                  <a:tcPr marL="191198" marR="245125" marT="147075" marB="14707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156624"/>
                  </a:ext>
                </a:extLst>
              </a:tr>
              <a:tr h="8977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Бинарные</a:t>
                      </a:r>
                    </a:p>
                  </a:txBody>
                  <a:tcPr marL="191198" marR="24512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31</a:t>
                      </a:r>
                    </a:p>
                  </a:txBody>
                  <a:tcPr marL="191198" marR="24512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Функциональные группы молекул</a:t>
                      </a:r>
                    </a:p>
                  </a:txBody>
                  <a:tcPr marL="191198" marR="14707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02503"/>
                  </a:ext>
                </a:extLst>
              </a:tr>
              <a:tr h="8977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Числовые</a:t>
                      </a:r>
                    </a:p>
                  </a:txBody>
                  <a:tcPr marL="191198" marR="24512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179</a:t>
                      </a:r>
                    </a:p>
                  </a:txBody>
                  <a:tcPr marL="191198" marR="24512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Молекулярные дескрипторы</a:t>
                      </a:r>
                    </a:p>
                  </a:txBody>
                  <a:tcPr marL="191198" marR="147075" marT="147075" marB="1470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55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52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A16A2-0447-8843-DD6D-2F9BB8D5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Предобработка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данных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Freeform: Shape 2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464D4-1997-66F1-135D-B884172CA744}"/>
              </a:ext>
            </a:extLst>
          </p:cNvPr>
          <p:cNvSpPr txBox="1"/>
          <p:nvPr/>
        </p:nvSpPr>
        <p:spPr>
          <a:xfrm>
            <a:off x="6547104" y="2304288"/>
            <a:ext cx="5129784" cy="40507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/>
              <a:t>Результат:</a:t>
            </a:r>
            <a:r>
              <a:rPr lang="en-US" b="0" i="0"/>
              <a:t> 210 нормализованных признаков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CD0E375-6AA6-58C1-0BCB-C1C315256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805680"/>
              </p:ext>
            </p:extLst>
          </p:nvPr>
        </p:nvGraphicFramePr>
        <p:xfrm>
          <a:off x="731014" y="2299390"/>
          <a:ext cx="5343481" cy="4072847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1730385">
                  <a:extLst>
                    <a:ext uri="{9D8B030D-6E8A-4147-A177-3AD203B41FA5}">
                      <a16:colId xmlns:a16="http://schemas.microsoft.com/office/drawing/2014/main" val="671743893"/>
                    </a:ext>
                  </a:extLst>
                </a:gridCol>
                <a:gridCol w="1734192">
                  <a:extLst>
                    <a:ext uri="{9D8B030D-6E8A-4147-A177-3AD203B41FA5}">
                      <a16:colId xmlns:a16="http://schemas.microsoft.com/office/drawing/2014/main" val="3162487893"/>
                    </a:ext>
                  </a:extLst>
                </a:gridCol>
                <a:gridCol w="1878904">
                  <a:extLst>
                    <a:ext uri="{9D8B030D-6E8A-4147-A177-3AD203B41FA5}">
                      <a16:colId xmlns:a16="http://schemas.microsoft.com/office/drawing/2014/main" val="1672031041"/>
                    </a:ext>
                  </a:extLst>
                </a:gridCol>
              </a:tblGrid>
              <a:tr h="51248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Этап</a:t>
                      </a:r>
                    </a:p>
                  </a:txBody>
                  <a:tcPr marL="100394" marR="167323" marT="100995" marB="104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Метод</a:t>
                      </a:r>
                    </a:p>
                  </a:txBody>
                  <a:tcPr marL="167323" marR="167323" marT="100995" marB="104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Обоснование</a:t>
                      </a:r>
                    </a:p>
                  </a:txBody>
                  <a:tcPr marL="167323" marR="167323" marT="100995" marB="104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246390"/>
                  </a:ext>
                </a:extLst>
              </a:tr>
              <a:tr h="10233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Пропуски (12 колонок)</a:t>
                      </a:r>
                    </a:p>
                  </a:txBody>
                  <a:tcPr marL="100394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Медиана (числовые), Мода (бинарные)</a:t>
                      </a:r>
                    </a:p>
                  </a:txBody>
                  <a:tcPr marL="167323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Устойчивость к выбросам</a:t>
                      </a:r>
                    </a:p>
                  </a:txBody>
                  <a:tcPr marL="167323" marR="100394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03199"/>
                  </a:ext>
                </a:extLst>
              </a:tr>
              <a:tr h="10233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Скошенные признаки (118)</a:t>
                      </a:r>
                    </a:p>
                  </a:txBody>
                  <a:tcPr marL="100394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Yeo-Johnson</a:t>
                      </a:r>
                    </a:p>
                  </a:txBody>
                  <a:tcPr marL="167323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Работа с отрицательными значениями</a:t>
                      </a:r>
                    </a:p>
                  </a:txBody>
                  <a:tcPr marL="167323" marR="100394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83395"/>
                  </a:ext>
                </a:extLst>
              </a:tr>
              <a:tr h="7568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Масштабирование</a:t>
                      </a:r>
                    </a:p>
                  </a:txBody>
                  <a:tcPr marL="100394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RobustScaler</a:t>
                      </a:r>
                    </a:p>
                  </a:txBody>
                  <a:tcPr marL="167323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Устойчивость к выбросам</a:t>
                      </a:r>
                    </a:p>
                  </a:txBody>
                  <a:tcPr marL="167323" marR="100394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530287"/>
                  </a:ext>
                </a:extLst>
              </a:tr>
              <a:tr h="7568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Целевые переменные</a:t>
                      </a:r>
                    </a:p>
                  </a:txBody>
                  <a:tcPr marL="100394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log1p</a:t>
                      </a:r>
                    </a:p>
                  </a:txBody>
                  <a:tcPr marL="167323" marR="167323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Нормализация распределений</a:t>
                      </a:r>
                    </a:p>
                  </a:txBody>
                  <a:tcPr marL="167323" marR="100394" marT="100995" marB="104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767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68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A34A3-0DC2-5B18-63E6-66754DC94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Сравнение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моделей</a:t>
            </a:r>
            <a:endParaRPr lang="en-US" b="1" kern="1200" dirty="0" err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70F0B-DDEE-69D0-F3D6-8B5876896F34}"/>
              </a:ext>
            </a:extLst>
          </p:cNvPr>
          <p:cNvSpPr txBox="1"/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Метрика</a:t>
            </a:r>
            <a:r>
              <a:rPr lang="en-US" b="1" i="0" dirty="0"/>
              <a:t>:</a:t>
            </a:r>
            <a:r>
              <a:rPr lang="en-US" b="0" i="0" dirty="0"/>
              <a:t> RMSE, 5-кратная </a:t>
            </a:r>
            <a:r>
              <a:rPr lang="en-US" b="0" i="0" dirty="0" err="1"/>
              <a:t>кросс-валидация</a:t>
            </a:r>
            <a:endParaRPr lang="en-US" b="0" i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Лучшая</a:t>
            </a:r>
            <a:r>
              <a:rPr lang="en-US" b="1" i="0" dirty="0"/>
              <a:t> </a:t>
            </a:r>
            <a:r>
              <a:rPr lang="en-US" b="1" i="0" dirty="0" err="1"/>
              <a:t>модель</a:t>
            </a:r>
            <a:r>
              <a:rPr lang="en-US" b="1" i="0" dirty="0"/>
              <a:t>: </a:t>
            </a:r>
            <a:r>
              <a:rPr lang="en-US" i="0" dirty="0"/>
              <a:t>Random Forest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F719166-7520-7845-AFCF-D6ABC10724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8547" y="2429691"/>
          <a:ext cx="5340569" cy="396751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931043">
                  <a:extLst>
                    <a:ext uri="{9D8B030D-6E8A-4147-A177-3AD203B41FA5}">
                      <a16:colId xmlns:a16="http://schemas.microsoft.com/office/drawing/2014/main" val="436949365"/>
                    </a:ext>
                  </a:extLst>
                </a:gridCol>
                <a:gridCol w="1112933">
                  <a:extLst>
                    <a:ext uri="{9D8B030D-6E8A-4147-A177-3AD203B41FA5}">
                      <a16:colId xmlns:a16="http://schemas.microsoft.com/office/drawing/2014/main" val="2180127072"/>
                    </a:ext>
                  </a:extLst>
                </a:gridCol>
                <a:gridCol w="1187821">
                  <a:extLst>
                    <a:ext uri="{9D8B030D-6E8A-4147-A177-3AD203B41FA5}">
                      <a16:colId xmlns:a16="http://schemas.microsoft.com/office/drawing/2014/main" val="2112938102"/>
                    </a:ext>
                  </a:extLst>
                </a:gridCol>
                <a:gridCol w="1108772">
                  <a:extLst>
                    <a:ext uri="{9D8B030D-6E8A-4147-A177-3AD203B41FA5}">
                      <a16:colId xmlns:a16="http://schemas.microsoft.com/office/drawing/2014/main" val="1828587341"/>
                    </a:ext>
                  </a:extLst>
                </a:gridCol>
              </a:tblGrid>
              <a:tr h="44721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all" spc="150">
                          <a:solidFill>
                            <a:schemeClr val="lt1"/>
                          </a:solidFill>
                          <a:effectLst/>
                          <a:latin typeface="quote-cjk-patch"/>
                        </a:rPr>
                        <a:t>Модель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all" spc="150">
                          <a:solidFill>
                            <a:schemeClr val="lt1"/>
                          </a:solidFill>
                          <a:effectLst/>
                          <a:latin typeface="quote-cjk-patch"/>
                        </a:rPr>
                        <a:t>IC50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all" spc="150">
                          <a:solidFill>
                            <a:schemeClr val="lt1"/>
                          </a:solidFill>
                          <a:effectLst/>
                          <a:latin typeface="quote-cjk-patch"/>
                        </a:rPr>
                        <a:t>CC50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 cap="all" spc="150">
                          <a:solidFill>
                            <a:schemeClr val="lt1"/>
                          </a:solidFill>
                          <a:effectLst/>
                          <a:latin typeface="quote-cjk-patch"/>
                        </a:rPr>
                        <a:t>SI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89667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Random Forest</a:t>
                      </a:r>
                      <a:endParaRPr lang="ru-RU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1.4503</a:t>
                      </a:r>
                      <a:endParaRPr lang="ru-RU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1.2352</a:t>
                      </a:r>
                      <a:endParaRPr lang="ru-RU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1.2205</a:t>
                      </a:r>
                      <a:endParaRPr lang="ru-RU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307841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Gradient Boosting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1.4528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1.2491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1.2513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64848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XGBoost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1.5278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1.2832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1.3025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35748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LightGBM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1.4820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1.2789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1.2987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20437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SVR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1.4866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1.3654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1.3789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800659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Lasso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1.5643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1.3414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1.3373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989734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Ridge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1.6020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1.3762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1.3488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126811"/>
                  </a:ext>
                </a:extLst>
              </a:tr>
              <a:tr h="4336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Linear Regression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1.8565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1.6871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1.5548</a:t>
                      </a:r>
                    </a:p>
                  </a:txBody>
                  <a:tcPr marL="111084" marR="111084" marT="111084" marB="111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58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43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9CA1C-FF0A-8504-C1A8-2CF78E4A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highlight>
                  <a:srgbClr val="FFFFFF"/>
                </a:highlight>
                <a:latin typeface="+mj-lt"/>
                <a:ea typeface="+mj-ea"/>
                <a:cs typeface="+mj-cs"/>
              </a:rPr>
              <a:t>Подбор гиперпараметров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576C8-2F41-2DE0-BA1B-BE0B72464839}"/>
              </a:ext>
            </a:extLst>
          </p:cNvPr>
          <p:cNvSpPr txBox="1"/>
          <p:nvPr/>
        </p:nvSpPr>
        <p:spPr>
          <a:xfrm>
            <a:off x="6547104" y="2304288"/>
            <a:ext cx="5129784" cy="40507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Метод</a:t>
            </a:r>
            <a:r>
              <a:rPr lang="en-US" b="1" i="0" dirty="0"/>
              <a:t>:</a:t>
            </a:r>
            <a:r>
              <a:rPr lang="en-US" b="0" i="0" dirty="0"/>
              <a:t> </a:t>
            </a:r>
            <a:r>
              <a:rPr lang="en-US" b="0" i="0" dirty="0" err="1"/>
              <a:t>GridSearchCV</a:t>
            </a:r>
            <a:r>
              <a:rPr lang="en-US" b="0" i="0" dirty="0"/>
              <a:t> с 3-кратной </a:t>
            </a:r>
            <a:r>
              <a:rPr lang="en-US" b="0" i="0" dirty="0" err="1"/>
              <a:t>кросс-валидацией</a:t>
            </a:r>
          </a:p>
          <a:p>
            <a:pPr>
              <a:spcAft>
                <a:spcPts val="600"/>
              </a:spcAft>
            </a:pPr>
            <a:endParaRPr lang="en-US" i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Результат</a:t>
            </a:r>
            <a:r>
              <a:rPr lang="en-US" b="1" i="0" dirty="0"/>
              <a:t>:</a:t>
            </a:r>
          </a:p>
          <a:p>
            <a:pPr marL="2286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/>
              <a:t>IC50: RMSE = 1.4789</a:t>
            </a:r>
          </a:p>
          <a:p>
            <a:pPr marL="2286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/>
              <a:t>CC50: RMSE = 1.2389</a:t>
            </a:r>
          </a:p>
          <a:p>
            <a:pPr marL="2286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/>
              <a:t>SI: RMSE = 1.2309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50E0A3DC-40A2-1CD1-648E-7045DBA793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7868" y="3206949"/>
          <a:ext cx="5639093" cy="225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58">
                  <a:extLst>
                    <a:ext uri="{9D8B030D-6E8A-4147-A177-3AD203B41FA5}">
                      <a16:colId xmlns:a16="http://schemas.microsoft.com/office/drawing/2014/main" val="3670811833"/>
                    </a:ext>
                  </a:extLst>
                </a:gridCol>
                <a:gridCol w="1479825">
                  <a:extLst>
                    <a:ext uri="{9D8B030D-6E8A-4147-A177-3AD203B41FA5}">
                      <a16:colId xmlns:a16="http://schemas.microsoft.com/office/drawing/2014/main" val="3057806070"/>
                    </a:ext>
                  </a:extLst>
                </a:gridCol>
                <a:gridCol w="1347159">
                  <a:extLst>
                    <a:ext uri="{9D8B030D-6E8A-4147-A177-3AD203B41FA5}">
                      <a16:colId xmlns:a16="http://schemas.microsoft.com/office/drawing/2014/main" val="1386002225"/>
                    </a:ext>
                  </a:extLst>
                </a:gridCol>
                <a:gridCol w="1883851">
                  <a:extLst>
                    <a:ext uri="{9D8B030D-6E8A-4147-A177-3AD203B41FA5}">
                      <a16:colId xmlns:a16="http://schemas.microsoft.com/office/drawing/2014/main" val="2157332822"/>
                    </a:ext>
                  </a:extLst>
                </a:gridCol>
              </a:tblGrid>
              <a:tr h="56443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Таргет</a:t>
                      </a:r>
                    </a:p>
                  </a:txBody>
                  <a:tcPr marL="115781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n_estimators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max_depth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min_samples_split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911137"/>
                  </a:ext>
                </a:extLst>
              </a:tr>
              <a:tr h="5644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IC50</a:t>
                      </a:r>
                    </a:p>
                  </a:txBody>
                  <a:tcPr marL="115781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None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92968" marR="115781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274839"/>
                  </a:ext>
                </a:extLst>
              </a:tr>
              <a:tr h="5644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CC50</a:t>
                      </a:r>
                    </a:p>
                  </a:txBody>
                  <a:tcPr marL="115781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92968" marR="115781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273636"/>
                  </a:ext>
                </a:extLst>
              </a:tr>
              <a:tr h="5644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SI</a:t>
                      </a:r>
                    </a:p>
                  </a:txBody>
                  <a:tcPr marL="115781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None</a:t>
                      </a:r>
                    </a:p>
                  </a:txBody>
                  <a:tcPr marL="192968" marR="192968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92968" marR="115781" marT="120605" marB="1206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3993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3F772A-CCFA-F1FE-E2C9-3606C129E803}"/>
              </a:ext>
            </a:extLst>
          </p:cNvPr>
          <p:cNvSpPr txBox="1"/>
          <p:nvPr/>
        </p:nvSpPr>
        <p:spPr>
          <a:xfrm>
            <a:off x="448849" y="301146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000000"/>
                </a:solidFill>
                <a:latin typeface="Bierstadt"/>
              </a:rPr>
              <a:t>Лучшие параметры Random Forest:</a:t>
            </a:r>
            <a:endParaRPr lang="ru-RU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35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9B138-371F-6A38-097C-C41E8CED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1709928"/>
            <a:ext cx="4389120" cy="2980944"/>
          </a:xfrm>
        </p:spPr>
        <p:txBody>
          <a:bodyPr>
            <a:normAutofit/>
          </a:bodyPr>
          <a:lstStyle/>
          <a:p>
            <a:r>
              <a:rPr lang="ru-RU">
                <a:highlight>
                  <a:srgbClr val="FFFFFF"/>
                </a:highlight>
              </a:rPr>
              <a:t>Финальное решение</a:t>
            </a:r>
            <a:endParaRPr lang="ru-RU"/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A125D-0AB6-3A9D-D666-47F61038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448" y="1801368"/>
            <a:ext cx="5486400" cy="446227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>
                <a:highlight>
                  <a:srgbClr val="FFFFFF"/>
                </a:highlight>
                <a:ea typeface="+mn-lt"/>
                <a:cs typeface="+mn-lt"/>
              </a:rPr>
              <a:t>Пайплайн:</a:t>
            </a:r>
            <a:endParaRPr lang="ru-RU" sz="1600"/>
          </a:p>
          <a:p>
            <a:pPr marL="0" indent="0">
              <a:lnSpc>
                <a:spcPct val="100000"/>
              </a:lnSpc>
              <a:buNone/>
            </a:pPr>
            <a:endParaRPr lang="ru-RU" sz="1600" dirty="0">
              <a:highlight>
                <a:srgbClr val="F9FAFB"/>
              </a:highlight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highlight>
                  <a:srgbClr val="F9FAFB"/>
                </a:highlight>
                <a:latin typeface="Consolas"/>
              </a:rPr>
              <a:t>Исходные данные (751 × 214)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        ↓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Предобработка (пропуски, Yeo-Johnson, RobustScaler)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        ↓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Логарифмирование таргетов (log1p)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        ↓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Обучение Random Forest (3 отдельные модели)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        ↓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Предсказание на тесте (250 × 214)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        ↓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Обратное преобразование (expm1)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        ↓</a:t>
            </a:r>
            <a:r>
              <a:rPr lang="ru-RU" sz="16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ru-RU" sz="1600">
                <a:highlight>
                  <a:srgbClr val="F9FAFB"/>
                </a:highlight>
                <a:latin typeface="Consolas"/>
              </a:rPr>
              <a:t>submission.csv</a:t>
            </a:r>
            <a:endParaRPr lang="ru-RU" sz="1600"/>
          </a:p>
          <a:p>
            <a:pPr>
              <a:lnSpc>
                <a:spcPct val="100000"/>
              </a:lnSpc>
            </a:pPr>
            <a:endParaRPr lang="ru-RU" sz="1100"/>
          </a:p>
        </p:txBody>
      </p:sp>
    </p:spTree>
    <p:extLst>
      <p:ext uri="{BB962C8B-B14F-4D97-AF65-F5344CB8AC3E}">
        <p14:creationId xmlns:p14="http://schemas.microsoft.com/office/powerpoint/2010/main" val="2295087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12425-360C-8F2E-7607-2E3332F7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ru-RU">
                <a:highlight>
                  <a:srgbClr val="FFFFFF"/>
                </a:highlight>
              </a:rPr>
              <a:t>Направления для улучшения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4CBFD-8A01-343D-4962-57FFD1E48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endParaRPr lang="ru-RU" b="1"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Краткосрочные (для повышения места):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Ансамбль моделей (Random Forest + XGBoost + CatBoost)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Оптимизация гиперпараметров через Optuna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Feature Engineering (полиномиальные признаки, взаимодействия)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Долгосрочные: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Применение графовых нейронных сетей (GNN) для учёта структуры молекул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Использование предобученных моделей (ChemBERTa, MolFormer)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Аугментация данных для увеличения выборки</a:t>
            </a:r>
            <a:endParaRPr lang="ru-RU"/>
          </a:p>
          <a:p>
            <a:pPr>
              <a:lnSpc>
                <a:spcPct val="100000"/>
              </a:lnSpc>
            </a:pPr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5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B7A5C-39EE-77A0-28F9-DF513723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9A775-499E-8B06-139F-C9465E7C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5376672"/>
          </a:xfrm>
        </p:spPr>
        <p:txBody>
          <a:bodyPr>
            <a:normAutofit/>
          </a:bodyPr>
          <a:lstStyle/>
          <a:p>
            <a:r>
              <a:rPr lang="ru-RU" sz="400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Заключение</a:t>
            </a: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06CBA4-A985-B81F-25FC-88AC30B0A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1042416"/>
            <a:ext cx="7031736" cy="531266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ru-RU" b="1">
              <a:highlight>
                <a:srgbClr val="FFFFFF"/>
              </a:highlight>
            </a:endParaRPr>
          </a:p>
          <a:p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Что сделано: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✅ Полный цикл анализа и предобработки данных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✅ Сравнение 9 моделей машинного обучения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✅ Оптимизация гиперпараметров Random Forest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✅ Воспроизводимый пайплайн</a:t>
            </a:r>
            <a:endParaRPr lang="ru-RU"/>
          </a:p>
          <a:p>
            <a:r>
              <a:rPr lang="ru-RU">
                <a:highlight>
                  <a:srgbClr val="FFFFFF"/>
                </a:highlight>
                <a:ea typeface="+mn-lt"/>
                <a:cs typeface="+mn-lt"/>
              </a:rPr>
              <a:t>✅ Публичный репозиторий на GitHub</a:t>
            </a:r>
            <a:endParaRPr lang="ru-RU"/>
          </a:p>
          <a:p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Ключевой результат:</a:t>
            </a:r>
            <a:br>
              <a:rPr lang="ru-RU" b="1" dirty="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ru-RU" b="1">
                <a:highlight>
                  <a:srgbClr val="FFFFFF"/>
                </a:highlight>
                <a:ea typeface="+mn-lt"/>
                <a:cs typeface="+mn-lt"/>
              </a:rPr>
              <a:t>Random Forest показал лучший результат</a:t>
            </a:r>
            <a:endParaRPr lang="ru-RU" b="1">
              <a:highlight>
                <a:srgbClr val="FFFFFF"/>
              </a:highlight>
            </a:endParaRP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49381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GestaltVTI</vt:lpstr>
      <vt:lpstr>ChemAI: Predict the Cure </vt:lpstr>
      <vt:lpstr>Постановка задачи </vt:lpstr>
      <vt:lpstr>Характеристика данных </vt:lpstr>
      <vt:lpstr>Анализ целевых переменных </vt:lpstr>
      <vt:lpstr>Анализ признаков </vt:lpstr>
      <vt:lpstr>Предобработка данных </vt:lpstr>
      <vt:lpstr>Сравнение моделей </vt:lpstr>
      <vt:lpstr>Подбор гиперпараметров </vt:lpstr>
      <vt:lpstr>Финальное решение </vt:lpstr>
      <vt:lpstr>Направления для улучшения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81</cp:revision>
  <dcterms:created xsi:type="dcterms:W3CDTF">2026-05-31T12:47:16Z</dcterms:created>
  <dcterms:modified xsi:type="dcterms:W3CDTF">2026-05-31T12:58:26Z</dcterms:modified>
</cp:coreProperties>
</file>